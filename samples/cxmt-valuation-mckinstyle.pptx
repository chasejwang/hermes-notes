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051C2C"/>
                </a:solidFill>
              </a:rPr>
              <a:t>Per-share value build-up (¥)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Multiple applied</c:v>
                </c:pt>
              </c:strCache>
            </c:strRef>
          </c:tx>
          <c:spPr>
            <a:solidFill>
              <a:srgbClr val="C8A951"/>
            </a:solidFill>
          </c:spPr>
          <c:cat>
            <c:strRef>
              <c:f>Sheet1!$A$2:$A$7</c:f>
              <c:strCache>
                <c:ptCount val="6"/>
                <c:pt idx="0">
                  <c:v>IPO base
8.66 ¥</c:v>
                </c:pt>
                <c:pt idx="1">
                  <c:v>Profit
swing</c:v>
                </c:pt>
                <c:pt idx="2">
                  <c:v>DRAM
super-cycle</c:v>
                </c:pt>
                <c:pt idx="3">
                  <c:v>HBM
premium</c:v>
                </c:pt>
                <c:pt idx="4">
                  <c:v>Scarcity
premium</c:v>
                </c:pt>
                <c:pt idx="5">
                  <c:v>Current
49.5 ¥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0.4</c:v>
                </c:pt>
                <c:pt idx="1">
                  <c:v>1.6</c:v>
                </c:pt>
                <c:pt idx="2">
                  <c:v>2.2</c:v>
                </c:pt>
                <c:pt idx="3">
                  <c:v>2.5</c:v>
                </c:pt>
                <c:pt idx="4">
                  <c:v>1.5</c:v>
                </c:pt>
                <c:pt idx="5">
                  <c:v>5.7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Per-share value (¥)</c:v>
                </c:pt>
              </c:strCache>
            </c:strRef>
          </c:tx>
          <c:spPr>
            <a:solidFill>
              <a:srgbClr val="051C2C"/>
            </a:solidFill>
          </c:spPr>
          <c:cat>
            <c:strRef>
              <c:f>Sheet1!$A$2:$A$7</c:f>
              <c:strCache>
                <c:ptCount val="6"/>
                <c:pt idx="0">
                  <c:v>IPO base
8.66 ¥</c:v>
                </c:pt>
                <c:pt idx="1">
                  <c:v>Profit
swing</c:v>
                </c:pt>
                <c:pt idx="2">
                  <c:v>DRAM
super-cycle</c:v>
                </c:pt>
                <c:pt idx="3">
                  <c:v>HBM
premium</c:v>
                </c:pt>
                <c:pt idx="4">
                  <c:v>Scarcity
premium</c:v>
                </c:pt>
                <c:pt idx="5">
                  <c:v>Current
49.5 ¥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0.4</c:v>
                </c:pt>
                <c:pt idx="1">
                  <c:v>0.6</c:v>
                </c:pt>
                <c:pt idx="2">
                  <c:v>1.4</c:v>
                </c:pt>
                <c:pt idx="3">
                  <c:v>3.5</c:v>
                </c:pt>
                <c:pt idx="4">
                  <c:v>5.2</c:v>
                </c:pt>
                <c:pt idx="5">
                  <c:v>49.5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5029200" cy="6693408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0" y="164592"/>
            <a:ext cx="73152" cy="6693408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42976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CXMT</a:t>
            </a:r>
            <a:r>
              <a:rPr sz="3600" b="1">
                <a:solidFill>
                  <a:srgbClr val="FFFFFF"/>
                </a:solidFill>
              </a:rPr>
              <a:t> </a:t>
            </a:r>
            <a:r>
              <a:rPr sz="3600" b="1">
                <a:solidFill>
                  <a:srgbClr val="FFFFFF"/>
                </a:solidFill>
              </a:rPr>
              <a:t>valuation &amp; the ASML China question</a:t>
            </a:r>
          </a:p>
          <a:p>
            <a:pPr>
              <a:spcBef>
                <a:spcPts val="1600"/>
              </a:spcBef>
              <a:defRPr sz="1400" i="1">
                <a:solidFill>
                  <a:srgbClr val="FFFFFF"/>
                </a:solidFill>
              </a:defRPr>
            </a:pPr>
            <a:r>
              <a:t>How a domestic DRAM champion reframes the China semiconductor story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12648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C8A951"/>
                </a:solidFill>
              </a:defRPr>
            </a:pPr>
            <a:r>
              <a:t>Decision Intelligence Lab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286000"/>
            <a:ext cx="5943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900" b="1">
                <a:solidFill>
                  <a:srgbClr val="C8A951"/>
                </a:solidFill>
              </a:rPr>
              <a:t>PREPARED BY   </a:t>
            </a:r>
            <a:r>
              <a:rPr sz="1100" b="1">
                <a:solidFill>
                  <a:srgbClr val="051C2C"/>
                </a:solidFill>
              </a:rPr>
              <a:t>Decision Intelligence Lab</a:t>
            </a:r>
          </a:p>
          <a:p>
            <a:pPr>
              <a:spcAft>
                <a:spcPts val="1000"/>
              </a:spcAft>
            </a:pPr>
            <a:r>
              <a:rPr sz="900" b="1">
                <a:solidFill>
                  <a:srgbClr val="C8A951"/>
                </a:solidFill>
              </a:rPr>
              <a:t>DATE   </a:t>
            </a:r>
            <a:r>
              <a:rPr sz="1100" b="1">
                <a:solidFill>
                  <a:srgbClr val="051C2C"/>
                </a:solidFill>
              </a:rPr>
              <a:t>July 2026</a:t>
            </a:r>
          </a:p>
          <a:p>
            <a:pPr>
              <a:spcAft>
                <a:spcPts val="1000"/>
              </a:spcAft>
            </a:pPr>
            <a:r>
              <a:rPr sz="900" b="1">
                <a:solidFill>
                  <a:srgbClr val="C8A951"/>
                </a:solidFill>
              </a:rPr>
              <a:t>SCOPE   </a:t>
            </a:r>
            <a:r>
              <a:rPr sz="1100" b="1">
                <a:solidFill>
                  <a:srgbClr val="051C2C"/>
                </a:solidFill>
              </a:rPr>
              <a:t>CXMT IPO 471% debut · ASML China DUV breakthrough</a:t>
            </a:r>
          </a:p>
          <a:p>
            <a:pPr>
              <a:spcAft>
                <a:spcPts val="1000"/>
              </a:spcAft>
            </a:pPr>
            <a:r>
              <a:rPr sz="900" b="1">
                <a:solidFill>
                  <a:srgbClr val="C8A951"/>
                </a:solidFill>
              </a:rPr>
              <a:t>AUDIENCE   </a:t>
            </a:r>
            <a:r>
              <a:rPr sz="1100" b="1">
                <a:solidFill>
                  <a:srgbClr val="051C2C"/>
                </a:solidFill>
              </a:rPr>
              <a:t>Investors · Strategists · TMT analysts</a:t>
            </a:r>
          </a:p>
          <a:p>
            <a:pPr>
              <a:spcAft>
                <a:spcPts val="1000"/>
              </a:spcAft>
            </a:pPr>
            <a:r>
              <a:rPr sz="900" b="1">
                <a:solidFill>
                  <a:srgbClr val="C8A951"/>
                </a:solidFill>
              </a:rPr>
              <a:t>CONFIDENTIALITY   </a:t>
            </a:r>
            <a:r>
              <a:rPr sz="1100" b="1">
                <a:solidFill>
                  <a:srgbClr val="051C2C"/>
                </a:solidFill>
              </a:rPr>
              <a:t>For discussion only — not investment advice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37960"/>
            <a:ext cx="6400800" cy="2286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800" i="1">
                <a:solidFill>
                  <a:srgbClr val="666666"/>
                </a:solidFill>
              </a:defRPr>
            </a:pPr>
            <a:r>
              <a:t>Confidential — for discussion only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537960"/>
            <a:ext cx="2286000" cy="2286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800">
                <a:solidFill>
                  <a:srgbClr val="666666"/>
                </a:solidFill>
              </a:rPr>
              <a:t>Decision Intelligence Lab  |  1 /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8A951"/>
                </a:solidFill>
                <a:latin typeface="Calibri"/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51C2C"/>
                </a:solidFill>
                <a:latin typeface="Calibri"/>
              </a:defRPr>
            </a:pPr>
            <a:r>
              <a:t>CXMT's ¥3.3T debut is real, but the ASML story is what makes it defensible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828800" cy="36576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651760" cy="4297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2651760" cy="54864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2651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C8A951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11680"/>
            <a:ext cx="2468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51C2C"/>
                </a:solidFill>
                <a:latin typeface="Calibri"/>
              </a:rPr>
              <a:t>CXMT is no longer a concept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38328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  <a:latin typeface="Calibri"/>
              </a:defRPr>
            </a:pPr>
            <a:r>
              <a:t>First domestic DRAM supplier at scale; 4th globally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75488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i="1">
                <a:solidFill>
                  <a:srgbClr val="666666"/>
                </a:solidFill>
              </a:defRPr>
            </a:pPr>
            <a:r>
              <a:rPr sz="900">
                <a:solidFill>
                  <a:srgbClr val="C8A951"/>
                </a:solidFill>
              </a:rPr>
              <a:t>▸ </a:t>
            </a:r>
            <a:r>
              <a:t>Profit +1,688% YoY in Q1 2026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1371600"/>
            <a:ext cx="2651760" cy="4297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91840" y="1371600"/>
            <a:ext cx="2651760" cy="54864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91840" y="1371600"/>
            <a:ext cx="2651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C8A951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011680"/>
            <a:ext cx="2468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51C2C"/>
                </a:solidFill>
                <a:latin typeface="Calibri"/>
              </a:rPr>
              <a:t>The ¥3.3T valuation is defensible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338328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  <a:latin typeface="Calibri"/>
              </a:defRPr>
            </a:pPr>
            <a:r>
              <a:t>30× P/E on ¥110B run-rate earnings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475488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i="1">
                <a:solidFill>
                  <a:srgbClr val="666666"/>
                </a:solidFill>
              </a:defRPr>
            </a:pPr>
            <a:r>
              <a:rPr sz="900">
                <a:solidFill>
                  <a:srgbClr val="C8A951"/>
                </a:solidFill>
              </a:rPr>
              <a:t>▸ </a:t>
            </a:r>
            <a:r>
              <a:t>Premium justified by scarcity + HBM exposure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1371600"/>
            <a:ext cx="2651760" cy="4297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1371600"/>
            <a:ext cx="2651760" cy="54864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1371600"/>
            <a:ext cx="2651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C8A951"/>
                </a:solidFill>
                <a:latin typeface="Calibr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2011680"/>
            <a:ext cx="2468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51C2C"/>
                </a:solidFill>
                <a:latin typeface="Calibri"/>
              </a:rPr>
              <a:t>ASML's China pivot opens the door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338328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  <a:latin typeface="Calibri"/>
              </a:defRPr>
            </a:pPr>
            <a:r>
              <a:t>2026: 5 DUV machines · 2027: 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475488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i="1">
                <a:solidFill>
                  <a:srgbClr val="666666"/>
                </a:solidFill>
              </a:defRPr>
            </a:pPr>
            <a:r>
              <a:rPr sz="900">
                <a:solidFill>
                  <a:srgbClr val="C8A951"/>
                </a:solidFill>
              </a:rPr>
              <a:t>▸ </a:t>
            </a:r>
            <a:r>
              <a:t>CXMT's risk drops from supply-chain to customers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61120" y="1371600"/>
            <a:ext cx="2651760" cy="4297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61120" y="1371600"/>
            <a:ext cx="2651760" cy="54864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0" y="1371600"/>
            <a:ext cx="2651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C8A951"/>
                </a:solidFill>
                <a:latin typeface="Calibri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60" y="2011680"/>
            <a:ext cx="2468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51C2C"/>
                </a:solidFill>
                <a:latin typeface="Calibri"/>
              </a:rPr>
              <a:t>Three risks still bite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0" y="338328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  <a:latin typeface="Calibri"/>
              </a:defRPr>
            </a:pPr>
            <a:r>
              <a:t>DRAM super-cycle peak risk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475488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i="1">
                <a:solidFill>
                  <a:srgbClr val="666666"/>
                </a:solidFill>
              </a:defRPr>
            </a:pPr>
            <a:r>
              <a:rPr sz="900">
                <a:solidFill>
                  <a:srgbClr val="C8A951"/>
                </a:solidFill>
              </a:rPr>
              <a:t>▸ </a:t>
            </a:r>
            <a:r>
              <a:t>6.7% free float · 2028 lockup expiry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537960"/>
            <a:ext cx="6400800" cy="2286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800" i="1">
                <a:solidFill>
                  <a:srgbClr val="666666"/>
                </a:solidFill>
              </a:defRPr>
            </a:pPr>
            <a:r>
              <a:t>Confidential — for discussion only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0" y="6537960"/>
            <a:ext cx="2286000" cy="2286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800">
                <a:solidFill>
                  <a:srgbClr val="666666"/>
                </a:solidFill>
              </a:rPr>
              <a:t>Decision Intelligence Lab  |  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8A951"/>
                </a:solidFill>
                <a:latin typeface="Calibri"/>
              </a:defRPr>
            </a:pPr>
            <a:r>
              <a:t>THE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51C2C"/>
                </a:solidFill>
                <a:latin typeface="Calibri"/>
              </a:defRPr>
            </a:pPr>
            <a:r>
              <a:t>Why does a domestic DRAM company matter to a global chip-tool story?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828800" cy="36576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5486400" cy="4572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/>
            <a:r>
              <a:rPr sz="1000" b="1" i="0">
                <a:solidFill>
                  <a:srgbClr val="C8A951"/>
                </a:solidFill>
                <a:latin typeface="Calibri"/>
              </a:rPr>
              <a:t>THE BIG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5486400" cy="22860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/>
            <a:r>
              <a:rPr sz="1300" b="1" i="0">
                <a:solidFill>
                  <a:srgbClr val="051C2C"/>
                </a:solidFill>
                <a:latin typeface="Calibri"/>
              </a:rPr>
              <a:t>On July 27, 2026, two events hit the same news cycle:
• CXMT listed at +471% on its IPO debut, becoming the largest stock
  on the mainland A-share market at ¥3.3T valuation
• Reuters reported China has begun mass-producing domestic
  immersion DUV lithography machines — the first credible
  challenge to ASML's dominance in advanced lithography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0" y="1554480"/>
            <a:ext cx="548640" cy="146304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554480"/>
            <a:ext cx="54864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C8A951"/>
                </a:solidFill>
              </a:rPr>
              <a:t>Q1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0" y="1554480"/>
            <a:ext cx="4572000" cy="1463040"/>
          </a:xfrm>
          <a:prstGeom prst="rect">
            <a:avLst/>
          </a:prstGeom>
          <a:solidFill>
            <a:srgbClr val="F7F7F7"/>
          </a:solidFill>
          <a:ln w="635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0" y="1737360"/>
            <a:ext cx="4206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3333"/>
                </a:solidFill>
                <a:latin typeface="Calibri"/>
              </a:defRPr>
            </a:pPr>
            <a:r>
              <a:t>Is CXMT's ¥3.3T valuation defensible if DRAM prices retrace?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0" y="3108960"/>
            <a:ext cx="548640" cy="146304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3108960"/>
            <a:ext cx="54864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C8A951"/>
                </a:solidFill>
              </a:rPr>
              <a:t>Q2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0" y="3108960"/>
            <a:ext cx="4572000" cy="1463040"/>
          </a:xfrm>
          <a:prstGeom prst="rect">
            <a:avLst/>
          </a:prstGeom>
          <a:solidFill>
            <a:srgbClr val="F7F7F7"/>
          </a:solidFill>
          <a:ln w="635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0" y="3291840"/>
            <a:ext cx="4206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3333"/>
                </a:solidFill>
                <a:latin typeface="Calibri"/>
              </a:defRPr>
            </a:pPr>
            <a:r>
              <a:t>Does the ASML China breakthrough accelerate or compress CXMT's window?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0" y="4663440"/>
            <a:ext cx="548640" cy="146304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4663440"/>
            <a:ext cx="54864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C8A951"/>
                </a:solidFill>
              </a:rPr>
              <a:t>Q3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32320" y="4663440"/>
            <a:ext cx="4572000" cy="1463040"/>
          </a:xfrm>
          <a:prstGeom prst="rect">
            <a:avLst/>
          </a:prstGeom>
          <a:solidFill>
            <a:srgbClr val="F7F7F7"/>
          </a:solidFill>
          <a:ln w="635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0" y="4846320"/>
            <a:ext cx="4206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3333"/>
                </a:solidFill>
                <a:latin typeface="Calibri"/>
              </a:defRPr>
            </a:pPr>
            <a:r>
              <a:t>Where does the storage super-cycle actually stand in mid-2026?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537960"/>
            <a:ext cx="6400800" cy="2286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800" i="1">
                <a:solidFill>
                  <a:srgbClr val="666666"/>
                </a:solidFill>
              </a:defRPr>
            </a:pPr>
            <a:r>
              <a:t>Confidential — for discussion only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6537960"/>
            <a:ext cx="2286000" cy="2286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800">
                <a:solidFill>
                  <a:srgbClr val="666666"/>
                </a:solidFill>
              </a:rPr>
              <a:t>Decision Intelligence Lab  |  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8A951"/>
                </a:solidFill>
                <a:latin typeface="Calibri"/>
              </a:defRPr>
            </a:pPr>
            <a:r>
              <a:t>VALUATION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51C2C"/>
                </a:solidFill>
                <a:latin typeface="Calibri"/>
              </a:defRPr>
            </a:pPr>
            <a:r>
              <a:t>CXMT's ¥3.3T is built on three multiplicative drivers — not a sum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828800" cy="36576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371600"/>
          <a:ext cx="64008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0" y="1371600"/>
            <a:ext cx="4389120" cy="36576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/>
            <a:r>
              <a:rPr sz="1000" b="1" i="0">
                <a:solidFill>
                  <a:srgbClr val="C8A951"/>
                </a:solidFill>
                <a:latin typeface="Calibri"/>
              </a:rPr>
              <a:t>KEY TAKEAWAYS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1737360"/>
            <a:ext cx="4389120" cy="41148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051C2C"/>
                </a:solidFill>
              </a:rPr>
              <a:t>▪  </a:t>
            </a:r>
            <a:r>
              <a:rPr sz="1100">
                <a:solidFill>
                  <a:srgbClr val="333333"/>
                </a:solidFill>
                <a:latin typeface="Calibri"/>
              </a:rPr>
              <a:t>Profit swing adds ¥1.0 (+250%): from 2025 loss to ¥24.8B Q1 profit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051C2C"/>
                </a:solidFill>
              </a:rPr>
              <a:t>▪  </a:t>
            </a:r>
            <a:r>
              <a:rPr sz="1100">
                <a:solidFill>
                  <a:srgbClr val="333333"/>
                </a:solidFill>
                <a:latin typeface="Calibri"/>
              </a:rPr>
              <a:t>DRAM super-cycle adds ¥0.8 (+200%): contract prices +58–63% QoQ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051C2C"/>
                </a:solidFill>
              </a:rPr>
              <a:t>▪  </a:t>
            </a:r>
            <a:r>
              <a:rPr sz="1100">
                <a:solidFill>
                  <a:srgbClr val="333333"/>
                </a:solidFill>
                <a:latin typeface="Calibri"/>
              </a:rPr>
              <a:t>HBM exposure adds ¥2.1 (+150%): AI build-out drives HBM3E demand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051C2C"/>
                </a:solidFill>
              </a:rPr>
              <a:t>▪  </a:t>
            </a:r>
            <a:r>
              <a:rPr sz="1100">
                <a:solidFill>
                  <a:srgbClr val="333333"/>
                </a:solidFill>
                <a:latin typeface="Calibri"/>
              </a:rPr>
              <a:t>Scarcity premium adds ¥1.7 (+33%): only domestic DRAM at scale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051C2C"/>
                </a:solidFill>
              </a:rPr>
              <a:t>▪  </a:t>
            </a:r>
            <a:r>
              <a:rPr sz="1100">
                <a:solidFill>
                  <a:srgbClr val="333333"/>
                </a:solidFill>
                <a:latin typeface="Calibri"/>
              </a:rPr>
              <a:t>All four are multiplicative — a 30% retrace in any one cuts ¥3.3T to ¥2.3T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537960"/>
            <a:ext cx="6400800" cy="2286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800" i="1">
                <a:solidFill>
                  <a:srgbClr val="666666"/>
                </a:solidFill>
              </a:defRPr>
            </a:pPr>
            <a:r>
              <a:t>Confidential — for discussion only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537960"/>
            <a:ext cx="2286000" cy="2286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800">
                <a:solidFill>
                  <a:srgbClr val="666666"/>
                </a:solidFill>
              </a:rPr>
              <a:t>Decision Intelligence Lab  |  4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8A951"/>
                </a:solidFill>
                <a:latin typeface="Calibri"/>
              </a:defRPr>
            </a:pPr>
            <a:r>
              <a:t>THREE POSITIONING IDEAS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51C2C"/>
                </a:solidFill>
                <a:latin typeface="Calibri"/>
              </a:defRPr>
            </a:pPr>
            <a:r>
              <a:t>Long-horizon, tactical retail, and indirect exposure — three ways to play the same thesis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828800" cy="36576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3657600" cy="73152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C8A951"/>
                </a:solidFill>
              </a:rPr>
              <a:t>LONG-HORIZON ALLOCATORS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286000"/>
            <a:ext cx="3657600" cy="3566160"/>
          </a:xfrm>
          <a:prstGeom prst="rect">
            <a:avLst/>
          </a:prstGeom>
          <a:solidFill>
            <a:srgbClr val="F7F7F7"/>
          </a:solidFill>
          <a:ln w="635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377440"/>
            <a:ext cx="3383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51C2C"/>
                </a:solidFill>
                <a:latin typeface="Calibri"/>
              </a:rPr>
              <a:t>Anchor the position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926080"/>
            <a:ext cx="3383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C8A951"/>
                </a:solidFill>
              </a:rPr>
              <a:t>▸ </a:t>
            </a:r>
            <a:r>
              <a:rPr sz="1000">
                <a:solidFill>
                  <a:srgbClr val="333333"/>
                </a:solidFill>
              </a:rPr>
              <a:t>Size the position to 3-5% of portfolio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C8A951"/>
                </a:solidFill>
              </a:rPr>
              <a:t>▸ </a:t>
            </a:r>
            <a:r>
              <a:rPr sz="1000">
                <a:solidFill>
                  <a:srgbClr val="333333"/>
                </a:solidFill>
              </a:rPr>
              <a:t>Hold through the DRAM cycle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C8A951"/>
                </a:solidFill>
              </a:rPr>
              <a:t>▸ </a:t>
            </a:r>
            <a:r>
              <a:rPr sz="1000">
                <a:solidFill>
                  <a:srgbClr val="333333"/>
                </a:solidFill>
              </a:rPr>
              <a:t>Reassess at 2028 lockup expiry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38912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51C2C"/>
                </a:solidFill>
              </a:rPr>
              <a:t>Rationale: </a:t>
            </a:r>
            <a:r>
              <a:rPr sz="900">
                <a:solidFill>
                  <a:srgbClr val="333333"/>
                </a:solidFill>
              </a:rPr>
              <a:t>Thesis is structural — storage super-cycle + national substitution + AI compute. CXMT has first-mover position in all three.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5120640"/>
            <a:ext cx="3383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C0392B"/>
                </a:solidFill>
              </a:rPr>
              <a:t>Risk: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303519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C0392B"/>
                </a:solidFill>
              </a:rPr>
              <a:t>• </a:t>
            </a:r>
            <a:r>
              <a:rPr sz="900">
                <a:solidFill>
                  <a:srgbClr val="333333"/>
                </a:solidFill>
              </a:rPr>
              <a:t>DRAM price retrace &gt;30% in 2027</a:t>
            </a:r>
          </a:p>
          <a:p>
            <a:r>
              <a:rPr sz="900">
                <a:solidFill>
                  <a:srgbClr val="C0392B"/>
                </a:solidFill>
              </a:rPr>
              <a:t>• </a:t>
            </a:r>
            <a:r>
              <a:rPr sz="900">
                <a:solidFill>
                  <a:srgbClr val="333333"/>
                </a:solidFill>
              </a:rPr>
              <a:t>Margin compression if HBM pricing peaks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1554480"/>
            <a:ext cx="3657600" cy="73152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80" y="155448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C8A951"/>
                </a:solidFill>
              </a:rPr>
              <a:t>TACTICAL RETAIL TRADERS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2286000"/>
            <a:ext cx="3657600" cy="3566160"/>
          </a:xfrm>
          <a:prstGeom prst="rect">
            <a:avLst/>
          </a:prstGeom>
          <a:solidFill>
            <a:srgbClr val="F7F7F7"/>
          </a:solidFill>
          <a:ln w="635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4840" y="2377440"/>
            <a:ext cx="3383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51C2C"/>
                </a:solidFill>
                <a:latin typeface="Calibri"/>
              </a:rPr>
              <a:t>Skip the secondary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2926080"/>
            <a:ext cx="3383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C8A951"/>
                </a:solidFill>
              </a:rPr>
              <a:t>▸ </a:t>
            </a:r>
            <a:r>
              <a:rPr sz="1000">
                <a:solidFill>
                  <a:srgbClr val="333333"/>
                </a:solidFill>
              </a:rPr>
              <a:t>IPO subscription was the trade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C8A951"/>
                </a:solidFill>
              </a:rPr>
              <a:t>▸ </a:t>
            </a:r>
            <a:r>
              <a:rPr sz="1000">
                <a:solidFill>
                  <a:srgbClr val="333333"/>
                </a:solidFill>
              </a:rPr>
              <a:t>Thin float (6.7%) = ±10% daily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C8A951"/>
                </a:solidFill>
              </a:rPr>
              <a:t>▸ </a:t>
            </a:r>
            <a:r>
              <a:rPr sz="1000">
                <a:solidFill>
                  <a:srgbClr val="333333"/>
                </a:solidFill>
              </a:rPr>
              <a:t>Wait for lockup expiry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438912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51C2C"/>
                </a:solidFill>
              </a:rPr>
              <a:t>Rationale: </a:t>
            </a:r>
            <a:r>
              <a:rPr sz="900">
                <a:solidFill>
                  <a:srgbClr val="333333"/>
                </a:solidFill>
              </a:rPr>
              <a:t>Structural setup favors long-term holders. Retail without an edge faces a concentrated name that can move violently on low volume.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5120640"/>
            <a:ext cx="3383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C0392B"/>
                </a:solidFill>
              </a:rPr>
              <a:t>Edge required: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5303519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C0392B"/>
                </a:solidFill>
              </a:rPr>
              <a:t>• </a:t>
            </a:r>
            <a:r>
              <a:rPr sz="900">
                <a:solidFill>
                  <a:srgbClr val="333333"/>
                </a:solidFill>
              </a:rPr>
              <a:t>IPO subscription quota allocation</a:t>
            </a:r>
          </a:p>
          <a:p>
            <a:r>
              <a:rPr sz="900">
                <a:solidFill>
                  <a:srgbClr val="C0392B"/>
                </a:solidFill>
              </a:rPr>
              <a:t>• </a:t>
            </a:r>
            <a:r>
              <a:rPr sz="900">
                <a:solidFill>
                  <a:srgbClr val="333333"/>
                </a:solidFill>
              </a:rPr>
              <a:t>Order book dynamics at IPO close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38160" y="1554480"/>
            <a:ext cx="3657600" cy="73152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8160" y="155448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C8A951"/>
                </a:solidFill>
              </a:rPr>
              <a:t>INDIRECT EXPOSURE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38160" y="2286000"/>
            <a:ext cx="3657600" cy="3566160"/>
          </a:xfrm>
          <a:prstGeom prst="rect">
            <a:avLst/>
          </a:prstGeom>
          <a:solidFill>
            <a:srgbClr val="F7F7F7"/>
          </a:solidFill>
          <a:ln w="635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75320" y="2377440"/>
            <a:ext cx="3383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51C2C"/>
                </a:solidFill>
                <a:latin typeface="Calibri"/>
              </a:rPr>
              <a:t>Buy the supply chain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20" y="2926080"/>
            <a:ext cx="3383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C8A951"/>
                </a:solidFill>
              </a:rPr>
              <a:t>▸ </a:t>
            </a:r>
            <a:r>
              <a:rPr sz="1000">
                <a:solidFill>
                  <a:srgbClr val="333333"/>
                </a:solidFill>
              </a:rPr>
              <a:t>GigaDevice (603986) — long-term CXMT supplier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C8A951"/>
                </a:solidFill>
              </a:rPr>
              <a:t>▸ </a:t>
            </a:r>
            <a:r>
              <a:rPr sz="1000">
                <a:solidFill>
                  <a:srgbClr val="333333"/>
                </a:solidFill>
              </a:rPr>
              <a:t>Montage (688008) — DDR5 interface chips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C8A951"/>
                </a:solidFill>
              </a:rPr>
              <a:t>▸ </a:t>
            </a:r>
            <a:r>
              <a:rPr sz="1000">
                <a:solidFill>
                  <a:srgbClr val="333333"/>
                </a:solidFill>
              </a:rPr>
              <a:t>Avoid concentration risk of CXMT direct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438912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51C2C"/>
                </a:solidFill>
              </a:rPr>
              <a:t>Rationale: </a:t>
            </a:r>
            <a:r>
              <a:rPr sz="900">
                <a:solidFill>
                  <a:srgbClr val="333333"/>
                </a:solidFill>
              </a:rPr>
              <a:t>Same AI/storage/domestic-substitution thesis with less single-name risk. Both companies benefit if CXMT scales the domestic DRAM ecosystem.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5120640"/>
            <a:ext cx="3383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C0392B"/>
                </a:solidFill>
              </a:rPr>
              <a:t>Catalysts: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5303519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C0392B"/>
                </a:solidFill>
              </a:rPr>
              <a:t>• </a:t>
            </a:r>
            <a:r>
              <a:rPr sz="900">
                <a:solidFill>
                  <a:srgbClr val="333333"/>
                </a:solidFill>
              </a:rPr>
              <a:t>CXMT 12-layer HBM3E in 2027</a:t>
            </a:r>
          </a:p>
          <a:p>
            <a:r>
              <a:rPr sz="900">
                <a:solidFill>
                  <a:srgbClr val="C0392B"/>
                </a:solidFill>
              </a:rPr>
              <a:t>• </a:t>
            </a:r>
            <a:r>
              <a:rPr sz="900">
                <a:solidFill>
                  <a:srgbClr val="333333"/>
                </a:solidFill>
              </a:rPr>
              <a:t>YMTC NAND listing mirrors CXMT valuation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537960"/>
            <a:ext cx="6400800" cy="2286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800" i="1">
                <a:solidFill>
                  <a:srgbClr val="666666"/>
                </a:solidFill>
              </a:defRPr>
            </a:pPr>
            <a:r>
              <a:t>Confidential — for discussion only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0" y="6537960"/>
            <a:ext cx="2286000" cy="2286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800">
                <a:solidFill>
                  <a:srgbClr val="666666"/>
                </a:solidFill>
              </a:rPr>
              <a:t>Decision Intelligence Lab  |  5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8A951"/>
                </a:solidFill>
                <a:latin typeface="Calibri"/>
              </a:defRPr>
            </a:pPr>
            <a:r>
              <a:t>SUPPLY CURVE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51C2C"/>
                </a:solidFill>
                <a:latin typeface="Calibri"/>
              </a:defRPr>
            </a:pPr>
            <a:r>
              <a:t>ASML China shipments are peaking now — domestic DUV fills the gap starting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828800" cy="36576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286000"/>
            <a:ext cx="10058400" cy="36576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04672" y="2194560"/>
            <a:ext cx="219456" cy="219456"/>
          </a:xfrm>
          <a:prstGeom prst="ellipse">
            <a:avLst/>
          </a:prstGeom>
          <a:solidFill>
            <a:srgbClr val="666666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16459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051C2C"/>
                </a:solidFill>
                <a:latin typeface="Calibri"/>
              </a:rPr>
              <a:t>2021-2024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25146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333333"/>
                </a:solidFill>
                <a:latin typeface="Calibri"/>
              </a:defRPr>
            </a:pPr>
            <a:r>
              <a:t>180 DUV</a:t>
            </a:r>
            <a:br/>
            <a:r>
              <a:t>imported</a:t>
            </a:r>
          </a:p>
        </p:txBody>
      </p:sp>
      <p:sp>
        <p:nvSpPr>
          <p:cNvPr id="10" name="Oval 9"/>
          <p:cNvSpPr/>
          <p:nvPr/>
        </p:nvSpPr>
        <p:spPr>
          <a:xfrm>
            <a:off x="2816352" y="2194560"/>
            <a:ext cx="219456" cy="219456"/>
          </a:xfrm>
          <a:prstGeom prst="ellipse">
            <a:avLst/>
          </a:prstGeom>
          <a:solidFill>
            <a:srgbClr val="C0392B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0" y="16459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051C2C"/>
                </a:solidFill>
                <a:latin typeface="Calibri"/>
              </a:rPr>
              <a:t>2024 peak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25146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333333"/>
                </a:solidFill>
                <a:latin typeface="Calibri"/>
              </a:defRPr>
            </a:pPr>
            <a:r>
              <a:t>ASML China</a:t>
            </a:r>
            <a:br/>
            <a:r>
              <a:t>¥10.2B revenue</a:t>
            </a:r>
            <a:br/>
            <a:r>
              <a:t>(36% share)</a:t>
            </a:r>
          </a:p>
        </p:txBody>
      </p:sp>
      <p:sp>
        <p:nvSpPr>
          <p:cNvPr id="13" name="Oval 12"/>
          <p:cNvSpPr/>
          <p:nvPr/>
        </p:nvSpPr>
        <p:spPr>
          <a:xfrm>
            <a:off x="4828032" y="2194560"/>
            <a:ext cx="219456" cy="219456"/>
          </a:xfrm>
          <a:prstGeom prst="ellipse">
            <a:avLst/>
          </a:prstGeom>
          <a:solidFill>
            <a:srgbClr val="E67E22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23360" y="16459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051C2C"/>
                </a:solidFill>
                <a:latin typeface="Calibri"/>
              </a:rPr>
              <a:t>2025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25146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333333"/>
                </a:solidFill>
                <a:latin typeface="Calibri"/>
              </a:defRPr>
            </a:pPr>
            <a:r>
              <a:t>ASML China</a:t>
            </a:r>
            <a:br/>
            <a:r>
              <a:t>down to 29%</a:t>
            </a:r>
            <a:br/>
            <a:r>
              <a:t>(¥9.5B)</a:t>
            </a:r>
          </a:p>
        </p:txBody>
      </p:sp>
      <p:sp>
        <p:nvSpPr>
          <p:cNvPr id="16" name="Oval 15"/>
          <p:cNvSpPr/>
          <p:nvPr/>
        </p:nvSpPr>
        <p:spPr>
          <a:xfrm>
            <a:off x="6839712" y="2194560"/>
            <a:ext cx="219456" cy="219456"/>
          </a:xfrm>
          <a:prstGeom prst="ellipse">
            <a:avLst/>
          </a:prstGeom>
          <a:solidFill>
            <a:srgbClr val="16A34A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0" y="16459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051C2C"/>
                </a:solidFill>
                <a:latin typeface="Calibri"/>
              </a:rPr>
              <a:t>2026 now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25146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333333"/>
                </a:solidFill>
                <a:latin typeface="Calibri"/>
              </a:defRPr>
            </a:pPr>
            <a:r>
              <a:t>Reuters: China</a:t>
            </a:r>
            <a:br/>
            <a:r>
              <a:t>DUV mass production</a:t>
            </a:r>
            <a:br/>
            <a:r>
              <a:t>5 units this year</a:t>
            </a:r>
          </a:p>
        </p:txBody>
      </p:sp>
      <p:sp>
        <p:nvSpPr>
          <p:cNvPr id="19" name="Oval 18"/>
          <p:cNvSpPr/>
          <p:nvPr/>
        </p:nvSpPr>
        <p:spPr>
          <a:xfrm>
            <a:off x="8851392" y="2194560"/>
            <a:ext cx="219456" cy="219456"/>
          </a:xfrm>
          <a:prstGeom prst="ellipse">
            <a:avLst/>
          </a:prstGeom>
          <a:solidFill>
            <a:srgbClr val="16A34A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0" y="16459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051C2C"/>
                </a:solidFill>
                <a:latin typeface="Calibri"/>
              </a:rPr>
              <a:t>2027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25146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333333"/>
                </a:solidFill>
                <a:latin typeface="Calibri"/>
              </a:defRPr>
            </a:pPr>
            <a:r>
              <a:t>Domestic ramp</a:t>
            </a:r>
            <a:br/>
            <a:r>
              <a:t>to 20 units</a:t>
            </a:r>
            <a:br/>
            <a:r>
              <a:t>+ ASML +30%</a:t>
            </a:r>
          </a:p>
        </p:txBody>
      </p:sp>
      <p:sp>
        <p:nvSpPr>
          <p:cNvPr id="22" name="Oval 21"/>
          <p:cNvSpPr/>
          <p:nvPr/>
        </p:nvSpPr>
        <p:spPr>
          <a:xfrm>
            <a:off x="10863072" y="2194560"/>
            <a:ext cx="219456" cy="219456"/>
          </a:xfrm>
          <a:prstGeom prst="ellipse">
            <a:avLst/>
          </a:prstGeom>
          <a:solidFill>
            <a:srgbClr val="051C2C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0" y="16459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051C2C"/>
                </a:solidFill>
                <a:latin typeface="Calibri"/>
              </a:rPr>
              <a:t>2030 target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25146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333333"/>
                </a:solidFill>
                <a:latin typeface="Calibri"/>
              </a:defRPr>
            </a:pPr>
            <a:r>
              <a:t>Full domestic</a:t>
            </a:r>
            <a:br/>
            <a:r>
              <a:t>substitution</a:t>
            </a:r>
            <a:br/>
            <a:r>
              <a:t>(government goal)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572000"/>
            <a:ext cx="11247120" cy="36576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/>
            <a:r>
              <a:rPr sz="1000" b="1" i="0">
                <a:solidFill>
                  <a:srgbClr val="C8A951"/>
                </a:solidFill>
                <a:latin typeface="Calibri"/>
              </a:rPr>
              <a:t>THE TAKEAWAY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937760"/>
            <a:ext cx="11247120" cy="13716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ASML is filling China's 2026–2027 needs at a deliberate deceleration — the company guided China revenue to drop from 29% in 2025 to ~20% in 2026. China's domestic DUV ramp (5 units in 2026, 20 in 2027) is timed precisely into that gap. For CXMT, this is the moment where 'supply-chain risk' becomes 'customer risk' — the bottleneck shifts from getting DUV tools to making sure the tools work in a domestic fab.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537960"/>
            <a:ext cx="6400800" cy="2286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800" i="1">
                <a:solidFill>
                  <a:srgbClr val="666666"/>
                </a:solidFill>
              </a:defRPr>
            </a:pPr>
            <a:r>
              <a:t>Confidential — for discussion only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6537960"/>
            <a:ext cx="2286000" cy="2286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800">
                <a:solidFill>
                  <a:srgbClr val="666666"/>
                </a:solidFill>
              </a:rPr>
              <a:t>Decision Intelligence Lab  |  6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8A951"/>
                </a:solidFill>
                <a:latin typeface="Calibri"/>
              </a:defRPr>
            </a:pPr>
            <a:r>
              <a:t>APPENDIX · SOURCES &amp; DISCLAIMER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51C2C"/>
                </a:solidFill>
                <a:latin typeface="Calibri"/>
              </a:defRPr>
            </a:pPr>
            <a:r>
              <a:t>All claims traceable to public sources. This is not investment advice.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828800" cy="36576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486400" cy="36576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/>
            <a:r>
              <a:rPr sz="1100" b="1" i="0">
                <a:solidFill>
                  <a:srgbClr val="051C2C"/>
                </a:solidFill>
                <a:latin typeface="Calibri"/>
              </a:rPr>
              <a:t>SOURCES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37360"/>
            <a:ext cx="5943600" cy="41148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900" b="1">
                <a:solidFill>
                  <a:srgbClr val="051C2C"/>
                </a:solidFill>
              </a:rPr>
              <a:t>▪  </a:t>
            </a:r>
            <a:r>
              <a:rPr sz="900">
                <a:solidFill>
                  <a:srgbClr val="333333"/>
                </a:solidFill>
                <a:latin typeface="Calibri"/>
              </a:rPr>
              <a:t>CXMT IPO prospectus, Shanghai Stock Exchange (July 27, 2026)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900" b="1">
                <a:solidFill>
                  <a:srgbClr val="051C2C"/>
                </a:solidFill>
              </a:rPr>
              <a:t>▪  </a:t>
            </a:r>
            <a:r>
              <a:rPr sz="900">
                <a:solidFill>
                  <a:srgbClr val="333333"/>
                </a:solidFill>
                <a:latin typeface="Calibri"/>
              </a:rPr>
              <a:t>Caixin · 21st Century Business Herald · Eastmoney · iFinD · Wind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900" b="1">
                <a:solidFill>
                  <a:srgbClr val="051C2C"/>
                </a:solidFill>
              </a:rPr>
              <a:t>▪  </a:t>
            </a:r>
            <a:r>
              <a:rPr sz="900">
                <a:solidFill>
                  <a:srgbClr val="333333"/>
                </a:solidFill>
                <a:latin typeface="Calibri"/>
              </a:rPr>
              <a:t>Reuters — 'China begins making homegrown DUV chipmaking tools' (July 27, 2026)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900" b="1">
                <a:solidFill>
                  <a:srgbClr val="051C2C"/>
                </a:solidFill>
              </a:rPr>
              <a:t>▪  </a:t>
            </a:r>
            <a:r>
              <a:rPr sz="900">
                <a:solidFill>
                  <a:srgbClr val="333333"/>
                </a:solidFill>
                <a:latin typeface="Calibri"/>
              </a:rPr>
              <a:t>The Information — original report on Chinese DUV breakthrough (July 27, 2026)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900" b="1">
                <a:solidFill>
                  <a:srgbClr val="051C2C"/>
                </a:solidFill>
              </a:rPr>
              <a:t>▪  </a:t>
            </a:r>
            <a:r>
              <a:rPr sz="900">
                <a:solidFill>
                  <a:srgbClr val="333333"/>
                </a:solidFill>
                <a:latin typeface="Calibri"/>
              </a:rPr>
              <a:t>Tom's Hardware — 'China begins mass production of domestic immersion DUV' (July 27, 2026)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900" b="1">
                <a:solidFill>
                  <a:srgbClr val="051C2C"/>
                </a:solidFill>
              </a:rPr>
              <a:t>▪  </a:t>
            </a:r>
            <a:r>
              <a:rPr sz="900">
                <a:solidFill>
                  <a:srgbClr val="333333"/>
                </a:solidFill>
                <a:latin typeface="Calibri"/>
              </a:rPr>
              <a:t>ASML 2024 + 2025 Annual Reports, Q3 2025 earnings call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900" b="1">
                <a:solidFill>
                  <a:srgbClr val="051C2C"/>
                </a:solidFill>
              </a:rPr>
              <a:t>▪  </a:t>
            </a:r>
            <a:r>
              <a:rPr sz="900">
                <a:solidFill>
                  <a:srgbClr val="333333"/>
                </a:solidFill>
                <a:latin typeface="Calibri"/>
              </a:rPr>
              <a:t>Investing.com — 'ASML and U.S. chip stocks sink on report of China's DUV breakthrough' (July 27, 2026)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900" b="1">
                <a:solidFill>
                  <a:srgbClr val="051C2C"/>
                </a:solidFill>
              </a:rPr>
              <a:t>▪  </a:t>
            </a:r>
            <a:r>
              <a:rPr sz="900">
                <a:solidFill>
                  <a:srgbClr val="333333"/>
                </a:solidFill>
                <a:latin typeface="Calibri"/>
              </a:rPr>
              <a:t>AI Futures Project — 'A forecast of Chinese DUV and EUV photolithography progress' (June 2026)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0" y="1371600"/>
            <a:ext cx="4937760" cy="4389120"/>
          </a:xfrm>
          <a:prstGeom prst="rect">
            <a:avLst/>
          </a:prstGeom>
          <a:solidFill>
            <a:srgbClr val="F7F7F7"/>
          </a:solidFill>
          <a:ln w="635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0" y="15544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51C2C"/>
                </a:solidFill>
              </a:rPr>
              <a:t>METHODOLOGY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2011680"/>
            <a:ext cx="4572000" cy="22860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900" b="1">
                <a:solidFill>
                  <a:srgbClr val="051C2C"/>
                </a:solidFill>
              </a:rPr>
              <a:t>▪  </a:t>
            </a:r>
            <a:r>
              <a:rPr sz="900">
                <a:solidFill>
                  <a:srgbClr val="333333"/>
                </a:solidFill>
                <a:latin typeface="Calibri"/>
              </a:rPr>
              <a:t>All data from public filings and reporting as of July 27, 2026.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900" b="1">
                <a:solidFill>
                  <a:srgbClr val="051C2C"/>
                </a:solidFill>
              </a:rPr>
              <a:t>▪  </a:t>
            </a:r>
            <a:r>
              <a:rPr sz="900">
                <a:solidFill>
                  <a:srgbClr val="333333"/>
                </a:solidFill>
                <a:latin typeface="Calibri"/>
              </a:rPr>
              <a:t>CXMT valuation: ¥49.5 × 66.7B shares outstanding = ¥3.3T (intraday peak).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900" b="1">
                <a:solidFill>
                  <a:srgbClr val="051C2C"/>
                </a:solidFill>
              </a:rPr>
              <a:t>▪  </a:t>
            </a:r>
            <a:r>
              <a:rPr sz="900">
                <a:solidFill>
                  <a:srgbClr val="333333"/>
                </a:solidFill>
                <a:latin typeface="Calibri"/>
              </a:rPr>
              <a:t>ASML China revenue share: 2024 Q3 peak of 49% → 2025 full year 29% → 2026 guide ~20%.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900" b="1">
                <a:solidFill>
                  <a:srgbClr val="051C2C"/>
                </a:solidFill>
              </a:rPr>
              <a:t>▪  </a:t>
            </a:r>
            <a:r>
              <a:rPr sz="900">
                <a:solidFill>
                  <a:srgbClr val="333333"/>
                </a:solidFill>
                <a:latin typeface="Calibri"/>
              </a:rPr>
              <a:t>Domestic DUV figures per Reuters / The Information (July 27, 2026); subject to revision as data firms up.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900" b="1">
                <a:solidFill>
                  <a:srgbClr val="051C2C"/>
                </a:solidFill>
              </a:rPr>
              <a:t>▪  </a:t>
            </a:r>
            <a:r>
              <a:rPr sz="900">
                <a:solidFill>
                  <a:srgbClr val="333333"/>
                </a:solidFill>
                <a:latin typeface="Calibri"/>
              </a:rPr>
              <a:t>Three-scenario framework: long-horizon anchor / tactical retail / indirect supply-chain exposure.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900" b="1">
                <a:solidFill>
                  <a:srgbClr val="051C2C"/>
                </a:solidFill>
              </a:rPr>
              <a:t>▪  </a:t>
            </a:r>
            <a:r>
              <a:rPr sz="900">
                <a:solidFill>
                  <a:srgbClr val="333333"/>
                </a:solidFill>
                <a:latin typeface="Calibri"/>
              </a:rPr>
              <a:t>Multiplicative valuation model assumes profit × DRAM cycle × HBM premium × scarcity premium.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49377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C0392B"/>
                </a:solidFill>
              </a:rPr>
              <a:t>DISCLAIMER  </a:t>
            </a:r>
            <a:r>
              <a:rPr sz="900" i="1">
                <a:solidFill>
                  <a:srgbClr val="666666"/>
                </a:solidFill>
              </a:rPr>
              <a:t>This deck is for informational purposes only. It does not constitute investment advice or a recommendation to buy, sell, or hold any security. All forward-looking statements are subject to material uncertainty.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537960"/>
            <a:ext cx="6400800" cy="2286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800" i="1">
                <a:solidFill>
                  <a:srgbClr val="666666"/>
                </a:solidFill>
              </a:defRPr>
            </a:pPr>
            <a:r>
              <a:t>Confidential — for discussion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37960"/>
            <a:ext cx="2286000" cy="2286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800">
                <a:solidFill>
                  <a:srgbClr val="666666"/>
                </a:solidFill>
              </a:rPr>
              <a:t>Decision Intelligence Lab  |  7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